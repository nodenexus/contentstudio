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5F6FF"/>
                </a:solidFill>
                <a:latin typeface="Inter"/>
              </a:defRPr>
            </a:pPr>
            <a:r>
              <a:t>Content Studio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B4B6D6"/>
                </a:solidFill>
                <a:latin typeface="Inter"/>
              </a:defRPr>
            </a:pPr>
            <a:r>
              <a:t>Autonomous Multi-Agent AI Marketing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468880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300">
                <a:solidFill>
                  <a:srgbClr val="F5F6FF"/>
                </a:solidFill>
                <a:latin typeface="Inter"/>
              </a:defRPr>
            </a:pPr>
            <a:r>
              <a:t>Production-grade SaaS experience with cinematic UI/UX</a:t>
            </a:r>
          </a:p>
          <a:p>
            <a:pPr>
              <a:spcAft>
                <a:spcPts val="1100"/>
              </a:spcAft>
              <a:defRPr sz="2300">
                <a:solidFill>
                  <a:srgbClr val="F5F6FF"/>
                </a:solidFill>
                <a:latin typeface="Inter"/>
              </a:defRPr>
            </a:pPr>
            <a:r>
              <a:t>Built with Flask + CrewAI + SQLite + real-time pipeline visualization</a:t>
            </a:r>
          </a:p>
          <a:p>
            <a:pPr>
              <a:spcAft>
                <a:spcPts val="1100"/>
              </a:spcAft>
              <a:defRPr sz="2300">
                <a:solidFill>
                  <a:srgbClr val="F5F6FF"/>
                </a:solidFill>
                <a:latin typeface="Inter"/>
              </a:defRPr>
            </a:pPr>
            <a:r>
              <a:t>Transforms one brief into a complete multi-channel content package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4B6D6"/>
                </a:solidFill>
              </a:defRPr>
            </a:pPr>
            <a:r>
              <a:t>Prepared by NodeNexus Team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5F6FF"/>
                </a:solidFill>
                <a:latin typeface="Inter"/>
              </a:defRPr>
            </a:pPr>
            <a: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B4B6D6"/>
                </a:solidFill>
                <a:latin typeface="Inter"/>
              </a:defRPr>
            </a:pPr>
            <a:r>
              <a:t>Why content teams need agentic automation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300">
                <a:solidFill>
                  <a:srgbClr val="F5F6FF"/>
                </a:solidFill>
                <a:latin typeface="Inter"/>
              </a:defRPr>
            </a:pPr>
            <a:r>
              <a:t>Marketing teams spend most of their time creating, not strategizing</a:t>
            </a:r>
          </a:p>
          <a:p>
            <a:pPr>
              <a:spcAft>
                <a:spcPts val="1100"/>
              </a:spcAft>
              <a:defRPr sz="2300">
                <a:solidFill>
                  <a:srgbClr val="F5F6FF"/>
                </a:solidFill>
                <a:latin typeface="Inter"/>
              </a:defRPr>
            </a:pPr>
            <a:r>
              <a:t>Single-model workflows cannot specialize per channel effectively</a:t>
            </a:r>
          </a:p>
          <a:p>
            <a:pPr>
              <a:spcAft>
                <a:spcPts val="1100"/>
              </a:spcAft>
              <a:defRPr sz="2300">
                <a:solidFill>
                  <a:srgbClr val="F5F6FF"/>
                </a:solidFill>
                <a:latin typeface="Inter"/>
              </a:defRPr>
            </a:pPr>
            <a:r>
              <a:t>Cross-platform consistency is hard under tight launch timelines</a:t>
            </a:r>
          </a:p>
          <a:p>
            <a:pPr>
              <a:spcAft>
                <a:spcPts val="1100"/>
              </a:spcAft>
              <a:defRPr sz="2300">
                <a:solidFill>
                  <a:srgbClr val="F5F6FF"/>
                </a:solidFill>
                <a:latin typeface="Inter"/>
              </a:defRPr>
            </a:pPr>
            <a:r>
              <a:t>Manual coordination across research, writing, social, email, and video is expensive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4B6D6"/>
                </a:solidFill>
              </a:defRPr>
            </a:pPr>
            <a:r>
              <a:t>Content Studio |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5F6FF"/>
                </a:solidFill>
                <a:latin typeface="Inter"/>
              </a:defRPr>
            </a:pPr>
            <a:r>
              <a:t>Our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B4B6D6"/>
                </a:solidFill>
                <a:latin typeface="Inter"/>
              </a:defRPr>
            </a:pPr>
            <a:r>
              <a:t>An AI marketing team in one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300">
                <a:solidFill>
                  <a:srgbClr val="F5F6FF"/>
                </a:solidFill>
                <a:latin typeface="Inter"/>
              </a:defRPr>
            </a:pPr>
            <a:r>
              <a:t>Input: topic, audience, tone</a:t>
            </a:r>
          </a:p>
          <a:p>
            <a:pPr>
              <a:spcAft>
                <a:spcPts val="1100"/>
              </a:spcAft>
              <a:defRPr sz="2300">
                <a:solidFill>
                  <a:srgbClr val="F5F6FF"/>
                </a:solidFill>
                <a:latin typeface="Inter"/>
              </a:defRPr>
            </a:pPr>
            <a:r>
              <a:t>Orchestrated multi-agent execution using CrewAI</a:t>
            </a:r>
          </a:p>
          <a:p>
            <a:pPr>
              <a:spcAft>
                <a:spcPts val="1100"/>
              </a:spcAft>
              <a:defRPr sz="2300">
                <a:solidFill>
                  <a:srgbClr val="F5F6FF"/>
                </a:solidFill>
                <a:latin typeface="Inter"/>
              </a:defRPr>
            </a:pPr>
            <a:r>
              <a:t>Output: research brief, blog, social set, email sequence, video script</a:t>
            </a:r>
          </a:p>
          <a:p>
            <a:pPr>
              <a:spcAft>
                <a:spcPts val="1100"/>
              </a:spcAft>
              <a:defRPr sz="2300">
                <a:solidFill>
                  <a:srgbClr val="F5F6FF"/>
                </a:solidFill>
                <a:latin typeface="Inter"/>
              </a:defRPr>
            </a:pPr>
            <a:r>
              <a:t>Export-ready in Markdown, JSON, TXT with user history and dashboard analytics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4B6D6"/>
                </a:solidFill>
              </a:defRPr>
            </a:pPr>
            <a:r>
              <a:t>Content Studio |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5F6FF"/>
                </a:solidFill>
                <a:latin typeface="Inter"/>
              </a:defRPr>
            </a:pPr>
            <a:r>
              <a:t>AI Agent 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B4B6D6"/>
                </a:solidFill>
                <a:latin typeface="Inter"/>
              </a:defRPr>
            </a:pPr>
            <a:r>
              <a:t>Five specialist agents collaborating in pipeline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5577840" cy="4754880"/>
          </a:xfrm>
          <a:prstGeom prst="rect">
            <a:avLst/>
          </a:prstGeom>
          <a:solidFill>
            <a:srgbClr val="141628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309360" y="1554480"/>
            <a:ext cx="5212080" cy="4754880"/>
          </a:xfrm>
          <a:prstGeom prst="rect">
            <a:avLst/>
          </a:prstGeom>
          <a:solidFill>
            <a:srgbClr val="141628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8308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F5F6FF"/>
                </a:solidFill>
              </a:defRPr>
            </a:pPr>
            <a:r>
              <a:t>Research &amp; Strategy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1783080"/>
            <a:ext cx="46634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F5F6FF"/>
                </a:solidFill>
              </a:defRPr>
            </a:pPr>
            <a:r>
              <a:t>Content Production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331720"/>
            <a:ext cx="502920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B4B6D6"/>
                </a:solidFill>
              </a:defRPr>
            </a:pPr>
            <a:r>
              <a:t>• Research Analyst: gathers insights, trends, key points</a:t>
            </a:r>
          </a:p>
          <a:p>
            <a:pPr>
              <a:defRPr sz="1600">
                <a:solidFill>
                  <a:srgbClr val="B4B6D6"/>
                </a:solidFill>
              </a:defRPr>
            </a:pPr>
            <a:r>
              <a:t>• Context-aware brief passed to downstream agents</a:t>
            </a:r>
          </a:p>
          <a:p>
            <a:pPr>
              <a:defRPr sz="1600">
                <a:solidFill>
                  <a:srgbClr val="B4B6D6"/>
                </a:solidFill>
              </a:defRPr>
            </a:pPr>
            <a:r>
              <a:t>• Improves factual grounding and direction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331720"/>
            <a:ext cx="46634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B4B6D6"/>
                </a:solidFill>
              </a:defRPr>
            </a:pPr>
            <a:r>
              <a:t>• Blog Writer: long-form SEO content</a:t>
            </a:r>
          </a:p>
          <a:p>
            <a:pPr>
              <a:defRPr sz="1600">
                <a:solidFill>
                  <a:srgbClr val="B4B6D6"/>
                </a:solidFill>
              </a:defRPr>
            </a:pPr>
            <a:r>
              <a:t>• Social Media Specialist: channel-native posts</a:t>
            </a:r>
          </a:p>
          <a:p>
            <a:pPr>
              <a:defRPr sz="1600">
                <a:solidFill>
                  <a:srgbClr val="B4B6D6"/>
                </a:solidFill>
              </a:defRPr>
            </a:pPr>
            <a:r>
              <a:t>• Email Marketing Expert: conversion-first campaigns</a:t>
            </a:r>
          </a:p>
          <a:p>
            <a:pPr>
              <a:defRPr sz="1600">
                <a:solidFill>
                  <a:srgbClr val="B4B6D6"/>
                </a:solidFill>
              </a:defRPr>
            </a:pPr>
            <a:r>
              <a:t>• Video Scriptwriter: high-retention scripts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4B6D6"/>
                </a:solidFill>
              </a:defRPr>
            </a:pPr>
            <a:r>
              <a:t>Content Studio |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5F6FF"/>
                </a:solidFill>
                <a:latin typeface="Inter"/>
              </a:defRPr>
            </a:pPr>
            <a:r>
              <a:t>Technical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B4B6D6"/>
                </a:solidFill>
                <a:latin typeface="Inter"/>
              </a:defRPr>
            </a:pPr>
            <a:r>
              <a:t>End-to-end full-stack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300">
                <a:solidFill>
                  <a:srgbClr val="F5F6FF"/>
                </a:solidFill>
                <a:latin typeface="Inter"/>
              </a:defRPr>
            </a:pPr>
            <a:r>
              <a:t>Frontend: Flask templates + premium design system (glassmorphism, motion, accessibility)</a:t>
            </a:r>
          </a:p>
          <a:p>
            <a:pPr>
              <a:spcAft>
                <a:spcPts val="1100"/>
              </a:spcAft>
              <a:defRPr sz="2300">
                <a:solidFill>
                  <a:srgbClr val="F5F6FF"/>
                </a:solidFill>
                <a:latin typeface="Inter"/>
              </a:defRPr>
            </a:pPr>
            <a:r>
              <a:t>Backend: Flask API routes, CrewAI orchestration, Flask-Login authentication</a:t>
            </a:r>
          </a:p>
          <a:p>
            <a:pPr>
              <a:spcAft>
                <a:spcPts val="1100"/>
              </a:spcAft>
              <a:defRPr sz="2300">
                <a:solidFill>
                  <a:srgbClr val="F5F6FF"/>
                </a:solidFill>
                <a:latin typeface="Inter"/>
              </a:defRPr>
            </a:pPr>
            <a:r>
              <a:t>Database: SQLite for user and generation history persistence</a:t>
            </a:r>
          </a:p>
          <a:p>
            <a:pPr>
              <a:spcAft>
                <a:spcPts val="1100"/>
              </a:spcAft>
              <a:defRPr sz="2300">
                <a:solidFill>
                  <a:srgbClr val="F5F6FF"/>
                </a:solidFill>
                <a:latin typeface="Inter"/>
              </a:defRPr>
            </a:pPr>
            <a:r>
              <a:t>Integrations: LLM provider via Groq/OpenAI-compatible endpoint</a:t>
            </a:r>
          </a:p>
          <a:p>
            <a:pPr>
              <a:spcAft>
                <a:spcPts val="1100"/>
              </a:spcAft>
              <a:defRPr sz="2300">
                <a:solidFill>
                  <a:srgbClr val="F5F6FF"/>
                </a:solidFill>
                <a:latin typeface="Inter"/>
              </a:defRPr>
            </a:pPr>
            <a:r>
              <a:t>Deployment-ready structure with Render configuration and modular static assets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4B6D6"/>
                </a:solidFill>
              </a:defRPr>
            </a:pPr>
            <a:r>
              <a:t>Content Studio |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5F6FF"/>
                </a:solidFill>
                <a:latin typeface="Inter"/>
              </a:defRPr>
            </a:pPr>
            <a:r>
              <a:t>Workflow Orchestration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B4B6D6"/>
                </a:solidFill>
                <a:latin typeface="Inter"/>
              </a:defRPr>
            </a:pPr>
            <a:r>
              <a:t>How one prompt becomes campaign-ready output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300">
                <a:solidFill>
                  <a:srgbClr val="F5F6FF"/>
                </a:solidFill>
                <a:latin typeface="Inter"/>
              </a:defRPr>
            </a:pPr>
            <a:r>
              <a:t>1) User submits topic + audience + tone</a:t>
            </a:r>
          </a:p>
          <a:p>
            <a:pPr>
              <a:spcAft>
                <a:spcPts val="1100"/>
              </a:spcAft>
              <a:defRPr sz="2300">
                <a:solidFill>
                  <a:srgbClr val="F5F6FF"/>
                </a:solidFill>
                <a:latin typeface="Inter"/>
              </a:defRPr>
            </a:pPr>
            <a:r>
              <a:t>2) Research agent executes first and prepares strategic context</a:t>
            </a:r>
          </a:p>
          <a:p>
            <a:pPr>
              <a:spcAft>
                <a:spcPts val="1100"/>
              </a:spcAft>
              <a:defRPr sz="2300">
                <a:solidFill>
                  <a:srgbClr val="F5F6FF"/>
                </a:solidFill>
                <a:latin typeface="Inter"/>
              </a:defRPr>
            </a:pPr>
            <a:r>
              <a:t>3) Parallel specialized agents produce channel-specific assets</a:t>
            </a:r>
          </a:p>
          <a:p>
            <a:pPr>
              <a:spcAft>
                <a:spcPts val="1100"/>
              </a:spcAft>
              <a:defRPr sz="2300">
                <a:solidFill>
                  <a:srgbClr val="F5F6FF"/>
                </a:solidFill>
                <a:latin typeface="Inter"/>
              </a:defRPr>
            </a:pPr>
            <a:r>
              <a:t>4) System aggregates output, computes stats, stores history</a:t>
            </a:r>
          </a:p>
          <a:p>
            <a:pPr>
              <a:spcAft>
                <a:spcPts val="1100"/>
              </a:spcAft>
              <a:defRPr sz="2300">
                <a:solidFill>
                  <a:srgbClr val="F5F6FF"/>
                </a:solidFill>
                <a:latin typeface="Inter"/>
              </a:defRPr>
            </a:pPr>
            <a:r>
              <a:t>5) User previews, copies, and exports content package instantly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4B6D6"/>
                </a:solidFill>
              </a:defRPr>
            </a:pPr>
            <a:r>
              <a:t>Content Studio |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5F6FF"/>
                </a:solidFill>
                <a:latin typeface="Inter"/>
              </a:defRPr>
            </a:pPr>
            <a:r>
              <a:t>Product UI/UX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B4B6D6"/>
                </a:solidFill>
                <a:latin typeface="Inter"/>
              </a:defRPr>
            </a:pPr>
            <a:r>
              <a:t>Modern SaaS interface ready for investor demos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300">
                <a:solidFill>
                  <a:srgbClr val="F5F6FF"/>
                </a:solidFill>
                <a:latin typeface="Inter"/>
              </a:defRPr>
            </a:pPr>
            <a:r>
              <a:t>Design language inspired by Linear, Vercel, OpenAI, Perplexity</a:t>
            </a:r>
          </a:p>
          <a:p>
            <a:pPr>
              <a:spcAft>
                <a:spcPts val="1100"/>
              </a:spcAft>
              <a:defRPr sz="2300">
                <a:solidFill>
                  <a:srgbClr val="F5F6FF"/>
                </a:solidFill>
                <a:latin typeface="Inter"/>
              </a:defRPr>
            </a:pPr>
            <a:r>
              <a:t>Dark premium palette with glow accents and depth layering</a:t>
            </a:r>
          </a:p>
          <a:p>
            <a:pPr>
              <a:spcAft>
                <a:spcPts val="1100"/>
              </a:spcAft>
              <a:defRPr sz="2300">
                <a:solidFill>
                  <a:srgbClr val="F5F6FF"/>
                </a:solidFill>
                <a:latin typeface="Inter"/>
              </a:defRPr>
            </a:pPr>
            <a:r>
              <a:t>Responsive pages: Landing, Auth, Dashboard, Workspace, Visualizer, History, Settings</a:t>
            </a:r>
          </a:p>
          <a:p>
            <a:pPr>
              <a:spcAft>
                <a:spcPts val="1100"/>
              </a:spcAft>
              <a:defRPr sz="2300">
                <a:solidFill>
                  <a:srgbClr val="F5F6FF"/>
                </a:solidFill>
                <a:latin typeface="Inter"/>
              </a:defRPr>
            </a:pPr>
            <a:r>
              <a:t>Microinteractions: animated nodes, typing indicators, hover elevation, motion-safe mode</a:t>
            </a:r>
          </a:p>
          <a:p>
            <a:pPr>
              <a:spcAft>
                <a:spcPts val="1100"/>
              </a:spcAft>
              <a:defRPr sz="2300">
                <a:solidFill>
                  <a:srgbClr val="F5F6FF"/>
                </a:solidFill>
                <a:latin typeface="Inter"/>
              </a:defRPr>
            </a:pPr>
            <a:r>
              <a:t>Accessibility: focus-visible states, keyboard-friendly modal/tabs, reduced-motion support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4B6D6"/>
                </a:solidFill>
              </a:defRPr>
            </a:pPr>
            <a:r>
              <a:t>Content Studio | 2026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5F6FF"/>
                </a:solidFill>
                <a:latin typeface="Inter"/>
              </a:defRPr>
            </a:pPr>
            <a:r>
              <a:t>Key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B4B6D6"/>
                </a:solidFill>
                <a:latin typeface="Inter"/>
              </a:defRPr>
            </a:pPr>
            <a:r>
              <a:t>What makes Content Studio production-grade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5577840" cy="4754880"/>
          </a:xfrm>
          <a:prstGeom prst="rect">
            <a:avLst/>
          </a:prstGeom>
          <a:solidFill>
            <a:srgbClr val="141628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309360" y="1554480"/>
            <a:ext cx="5212080" cy="4754880"/>
          </a:xfrm>
          <a:prstGeom prst="rect">
            <a:avLst/>
          </a:prstGeom>
          <a:solidFill>
            <a:srgbClr val="141628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8308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F5F6FF"/>
                </a:solidFill>
              </a:defRPr>
            </a:pPr>
            <a:r>
              <a:t>Core Product Features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1783080"/>
            <a:ext cx="46634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F5F6FF"/>
                </a:solidFill>
              </a:defRPr>
            </a:pPr>
            <a:r>
              <a:t>Operational Capabilities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331720"/>
            <a:ext cx="502920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B4B6D6"/>
                </a:solidFill>
              </a:defRPr>
            </a:pPr>
            <a:r>
              <a:t>• Authenticated user workspaces</a:t>
            </a:r>
          </a:p>
          <a:p>
            <a:pPr>
              <a:defRPr sz="1600">
                <a:solidFill>
                  <a:srgbClr val="B4B6D6"/>
                </a:solidFill>
              </a:defRPr>
            </a:pPr>
            <a:r>
              <a:t>• Real-time pipeline visualizer</a:t>
            </a:r>
          </a:p>
          <a:p>
            <a:pPr>
              <a:defRPr sz="1600">
                <a:solidFill>
                  <a:srgbClr val="B4B6D6"/>
                </a:solidFill>
              </a:defRPr>
            </a:pPr>
            <a:r>
              <a:t>• Live markdown content viewer</a:t>
            </a:r>
          </a:p>
          <a:p>
            <a:pPr>
              <a:defRPr sz="1600">
                <a:solidFill>
                  <a:srgbClr val="B4B6D6"/>
                </a:solidFill>
              </a:defRPr>
            </a:pPr>
            <a:r>
              <a:t>• History storage and reload</a:t>
            </a:r>
          </a:p>
          <a:p>
            <a:pPr>
              <a:defRPr sz="1600">
                <a:solidFill>
                  <a:srgbClr val="B4B6D6"/>
                </a:solidFill>
              </a:defRPr>
            </a:pPr>
            <a:r>
              <a:t>• Multi-format export modal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331720"/>
            <a:ext cx="46634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B4B6D6"/>
                </a:solidFill>
              </a:defRPr>
            </a:pPr>
            <a:r>
              <a:t>• Cache support for repeat prompts</a:t>
            </a:r>
          </a:p>
          <a:p>
            <a:pPr>
              <a:defRPr sz="1600">
                <a:solidFill>
                  <a:srgbClr val="B4B6D6"/>
                </a:solidFill>
              </a:defRPr>
            </a:pPr>
            <a:r>
              <a:t>• Usage and content stat summaries</a:t>
            </a:r>
          </a:p>
          <a:p>
            <a:pPr>
              <a:defRPr sz="1600">
                <a:solidFill>
                  <a:srgbClr val="B4B6D6"/>
                </a:solidFill>
              </a:defRPr>
            </a:pPr>
            <a:r>
              <a:t>• Mobile-first responsive layouts</a:t>
            </a:r>
          </a:p>
          <a:p>
            <a:pPr>
              <a:defRPr sz="1600">
                <a:solidFill>
                  <a:srgbClr val="B4B6D6"/>
                </a:solidFill>
              </a:defRPr>
            </a:pPr>
            <a:r>
              <a:t>• Scalable CSS token architecture</a:t>
            </a:r>
          </a:p>
          <a:p>
            <a:pPr>
              <a:defRPr sz="1600">
                <a:solidFill>
                  <a:srgbClr val="B4B6D6"/>
                </a:solidFill>
              </a:defRPr>
            </a:pPr>
            <a:r>
              <a:t>• Fast iteration with Flask template system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4B6D6"/>
                </a:solidFill>
              </a:defRPr>
            </a:pPr>
            <a:r>
              <a:t>Content Studio | 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5F6FF"/>
                </a:solidFill>
                <a:latin typeface="Inter"/>
              </a:defRPr>
            </a:pPr>
            <a:r>
              <a:t>Demo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B4B6D6"/>
                </a:solidFill>
                <a:latin typeface="Inter"/>
              </a:defRPr>
            </a:pPr>
            <a:r>
              <a:t>Recommended 3-minute showcase sequence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300">
                <a:solidFill>
                  <a:srgbClr val="F5F6FF"/>
                </a:solidFill>
                <a:latin typeface="Inter"/>
              </a:defRPr>
            </a:pPr>
            <a:r>
              <a:t>Open landing + dashboard to explain value proposition</a:t>
            </a:r>
          </a:p>
          <a:p>
            <a:pPr>
              <a:spcAft>
                <a:spcPts val="1100"/>
              </a:spcAft>
              <a:defRPr sz="2300">
                <a:solidFill>
                  <a:srgbClr val="F5F6FF"/>
                </a:solidFill>
                <a:latin typeface="Inter"/>
              </a:defRPr>
            </a:pPr>
            <a:r>
              <a:t>Enter prompt in workspace and trigger generation</a:t>
            </a:r>
          </a:p>
          <a:p>
            <a:pPr>
              <a:spcAft>
                <a:spcPts val="1100"/>
              </a:spcAft>
              <a:defRPr sz="2300">
                <a:solidFill>
                  <a:srgbClr val="F5F6FF"/>
                </a:solidFill>
                <a:latin typeface="Inter"/>
              </a:defRPr>
            </a:pPr>
            <a:r>
              <a:t>Show live AI node states and activity log progression</a:t>
            </a:r>
          </a:p>
          <a:p>
            <a:pPr>
              <a:spcAft>
                <a:spcPts val="1100"/>
              </a:spcAft>
              <a:defRPr sz="2300">
                <a:solidFill>
                  <a:srgbClr val="F5F6FF"/>
                </a:solidFill>
                <a:latin typeface="Inter"/>
              </a:defRPr>
            </a:pPr>
            <a:r>
              <a:t>Review generated assets across tabs (blog/social/email/video/research)</a:t>
            </a:r>
          </a:p>
          <a:p>
            <a:pPr>
              <a:spcAft>
                <a:spcPts val="1100"/>
              </a:spcAft>
              <a:defRPr sz="2300">
                <a:solidFill>
                  <a:srgbClr val="F5F6FF"/>
                </a:solidFill>
                <a:latin typeface="Inter"/>
              </a:defRPr>
            </a:pPr>
            <a:r>
              <a:t>Export package and load historical run from database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4B6D6"/>
                </a:solidFill>
              </a:defRPr>
            </a:pPr>
            <a:r>
              <a:t>Content Studio | 2026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5F6FF"/>
                </a:solidFill>
                <a:latin typeface="Inter"/>
              </a:defRPr>
            </a:pPr>
            <a:r>
              <a:t>Business Value &amp;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B4B6D6"/>
                </a:solidFill>
                <a:latin typeface="Inter"/>
              </a:defRPr>
            </a:pPr>
            <a:r>
              <a:t>Why this matters to teams and stakeholders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300">
                <a:solidFill>
                  <a:srgbClr val="F5F6FF"/>
                </a:solidFill>
                <a:latin typeface="Inter"/>
              </a:defRPr>
            </a:pPr>
            <a:r>
              <a:t>2-3 minute average turnaround for complete content package</a:t>
            </a:r>
          </a:p>
          <a:p>
            <a:pPr>
              <a:spcAft>
                <a:spcPts val="1100"/>
              </a:spcAft>
              <a:defRPr sz="2300">
                <a:solidFill>
                  <a:srgbClr val="F5F6FF"/>
                </a:solidFill>
                <a:latin typeface="Inter"/>
              </a:defRPr>
            </a:pPr>
            <a:r>
              <a:t>10x productivity potential for content operations</a:t>
            </a:r>
          </a:p>
          <a:p>
            <a:pPr>
              <a:spcAft>
                <a:spcPts val="1100"/>
              </a:spcAft>
              <a:defRPr sz="2300">
                <a:solidFill>
                  <a:srgbClr val="F5F6FF"/>
                </a:solidFill>
                <a:latin typeface="Inter"/>
              </a:defRPr>
            </a:pPr>
            <a:r>
              <a:t>Consistent brand-aligned messaging across channels</a:t>
            </a:r>
          </a:p>
          <a:p>
            <a:pPr>
              <a:spcAft>
                <a:spcPts val="1100"/>
              </a:spcAft>
              <a:defRPr sz="2300">
                <a:solidFill>
                  <a:srgbClr val="F5F6FF"/>
                </a:solidFill>
                <a:latin typeface="Inter"/>
              </a:defRPr>
            </a:pPr>
            <a:r>
              <a:t>From ideation to deliverable in a single interface</a:t>
            </a:r>
          </a:p>
          <a:p>
            <a:pPr>
              <a:spcAft>
                <a:spcPts val="1100"/>
              </a:spcAft>
              <a:defRPr sz="2300">
                <a:solidFill>
                  <a:srgbClr val="F5F6FF"/>
                </a:solidFill>
                <a:latin typeface="Inter"/>
              </a:defRPr>
            </a:pPr>
            <a:r>
              <a:t>Clear upgrade path to enterprise integrations and analytics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4B6D6"/>
                </a:solidFill>
              </a:defRPr>
            </a:pPr>
            <a:r>
              <a:t>Content Studio | 2026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5F6FF"/>
                </a:solidFill>
                <a:latin typeface="Inter"/>
              </a:defRPr>
            </a:pPr>
            <a:r>
              <a:t>Security &amp; Reliability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B4B6D6"/>
                </a:solidFill>
                <a:latin typeface="Inter"/>
              </a:defRPr>
            </a:pPr>
            <a:r>
              <a:t>Production considerations already in place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300">
                <a:solidFill>
                  <a:srgbClr val="F5F6FF"/>
                </a:solidFill>
                <a:latin typeface="Inter"/>
              </a:defRPr>
            </a:pPr>
            <a:r>
              <a:t>User authentication and session management with Flask-Login</a:t>
            </a:r>
          </a:p>
          <a:p>
            <a:pPr>
              <a:spcAft>
                <a:spcPts val="1100"/>
              </a:spcAft>
              <a:defRPr sz="2300">
                <a:solidFill>
                  <a:srgbClr val="F5F6FF"/>
                </a:solidFill>
                <a:latin typeface="Inter"/>
              </a:defRPr>
            </a:pPr>
            <a:r>
              <a:t>Persistent history and audit-friendly generated timestamps</a:t>
            </a:r>
          </a:p>
          <a:p>
            <a:pPr>
              <a:spcAft>
                <a:spcPts val="1100"/>
              </a:spcAft>
              <a:defRPr sz="2300">
                <a:solidFill>
                  <a:srgbClr val="F5F6FF"/>
                </a:solidFill>
                <a:latin typeface="Inter"/>
              </a:defRPr>
            </a:pPr>
            <a:r>
              <a:t>Robust API error handling and user feedback toasts</a:t>
            </a:r>
          </a:p>
          <a:p>
            <a:pPr>
              <a:spcAft>
                <a:spcPts val="1100"/>
              </a:spcAft>
              <a:defRPr sz="2300">
                <a:solidFill>
                  <a:srgbClr val="F5F6FF"/>
                </a:solidFill>
                <a:latin typeface="Inter"/>
              </a:defRPr>
            </a:pPr>
            <a:r>
              <a:t>Source-controlled deployment config and repeatable startup instructions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4B6D6"/>
                </a:solidFill>
              </a:defRPr>
            </a:pPr>
            <a:r>
              <a:t>Content Studio | 2026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5F6FF"/>
                </a:solidFill>
                <a:latin typeface="Inter"/>
              </a:defRPr>
            </a:pPr>
            <a:r>
              <a:t>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B4B6D6"/>
                </a:solidFill>
                <a:latin typeface="Inter"/>
              </a:defRPr>
            </a:pPr>
            <a:r>
              <a:t>Next milestones for scale and monetization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300">
                <a:solidFill>
                  <a:srgbClr val="F5F6FF"/>
                </a:solidFill>
                <a:latin typeface="Inter"/>
              </a:defRPr>
            </a:pPr>
            <a:r>
              <a:t>Team workspaces with project collaboration and approvals</a:t>
            </a:r>
          </a:p>
          <a:p>
            <a:pPr>
              <a:spcAft>
                <a:spcPts val="1100"/>
              </a:spcAft>
              <a:defRPr sz="2300">
                <a:solidFill>
                  <a:srgbClr val="F5F6FF"/>
                </a:solidFill>
                <a:latin typeface="Inter"/>
              </a:defRPr>
            </a:pPr>
            <a:r>
              <a:t>Publishing integrations (WordPress, LinkedIn, X, email platforms)</a:t>
            </a:r>
          </a:p>
          <a:p>
            <a:pPr>
              <a:spcAft>
                <a:spcPts val="1100"/>
              </a:spcAft>
              <a:defRPr sz="2300">
                <a:solidFill>
                  <a:srgbClr val="F5F6FF"/>
                </a:solidFill>
                <a:latin typeface="Inter"/>
              </a:defRPr>
            </a:pPr>
            <a:r>
              <a:t>Template libraries and brand voice profiles</a:t>
            </a:r>
          </a:p>
          <a:p>
            <a:pPr>
              <a:spcAft>
                <a:spcPts val="1100"/>
              </a:spcAft>
              <a:defRPr sz="2300">
                <a:solidFill>
                  <a:srgbClr val="F5F6FF"/>
                </a:solidFill>
                <a:latin typeface="Inter"/>
              </a:defRPr>
            </a:pPr>
            <a:r>
              <a:t>A/B testing and performance analytics loop</a:t>
            </a:r>
          </a:p>
          <a:p>
            <a:pPr>
              <a:spcAft>
                <a:spcPts val="1100"/>
              </a:spcAft>
              <a:defRPr sz="2300">
                <a:solidFill>
                  <a:srgbClr val="F5F6FF"/>
                </a:solidFill>
                <a:latin typeface="Inter"/>
              </a:defRPr>
            </a:pPr>
            <a:r>
              <a:t>Enterprise plans: SSO, RBAC, and usage governance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4B6D6"/>
                </a:solidFill>
              </a:defRPr>
            </a:pPr>
            <a:r>
              <a:t>Content Studio | 2026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5F6FF"/>
                </a:solidFill>
                <a:latin typeface="Inter"/>
              </a:defRPr>
            </a:pPr>
            <a:r>
              <a:t>The Ask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B4B6D6"/>
                </a:solidFill>
                <a:latin typeface="Inter"/>
              </a:defRPr>
            </a:pPr>
            <a:r>
              <a:t>What we are seeking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286000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300">
                <a:solidFill>
                  <a:srgbClr val="F5F6FF"/>
                </a:solidFill>
                <a:latin typeface="Inter"/>
              </a:defRPr>
            </a:pPr>
            <a:r>
              <a:t>Pilot partners for real-world content workflows</a:t>
            </a:r>
          </a:p>
          <a:p>
            <a:pPr>
              <a:spcAft>
                <a:spcPts val="1100"/>
              </a:spcAft>
              <a:defRPr sz="2300">
                <a:solidFill>
                  <a:srgbClr val="F5F6FF"/>
                </a:solidFill>
                <a:latin typeface="Inter"/>
              </a:defRPr>
            </a:pPr>
            <a:r>
              <a:t>Product feedback on team collaboration and integrations</a:t>
            </a:r>
          </a:p>
          <a:p>
            <a:pPr>
              <a:spcAft>
                <a:spcPts val="1100"/>
              </a:spcAft>
              <a:defRPr sz="2300">
                <a:solidFill>
                  <a:srgbClr val="F5F6FF"/>
                </a:solidFill>
                <a:latin typeface="Inter"/>
              </a:defRPr>
            </a:pPr>
            <a:r>
              <a:t>Support for scaling from demo-ready to multi-tenant SaaS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4B6D6"/>
                </a:solidFill>
              </a:defRPr>
            </a:pPr>
            <a:r>
              <a:t>Content Studio | 2026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5F6FF"/>
                </a:solidFill>
                <a:latin typeface="Inter"/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B4B6D6"/>
                </a:solidFill>
                <a:latin typeface="Inter"/>
              </a:defRPr>
            </a:pPr>
            <a:r>
              <a:t>Content Studio — Your Autonomous AI Marketing Team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560320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300">
                <a:solidFill>
                  <a:srgbClr val="F5F6FF"/>
                </a:solidFill>
                <a:latin typeface="Inter"/>
              </a:defRPr>
            </a:pPr>
            <a:r>
              <a:t>GitHub: https://github.com/NodeNexus/ContentStudio</a:t>
            </a:r>
          </a:p>
          <a:p>
            <a:pPr>
              <a:spcAft>
                <a:spcPts val="1100"/>
              </a:spcAft>
              <a:defRPr sz="2300">
                <a:solidFill>
                  <a:srgbClr val="F5F6FF"/>
                </a:solidFill>
                <a:latin typeface="Inter"/>
              </a:defRPr>
            </a:pPr>
            <a:r>
              <a:t>Built with Flask, CrewAI, and a premium product-first UI system</a:t>
            </a:r>
          </a:p>
          <a:p>
            <a:pPr>
              <a:spcAft>
                <a:spcPts val="1100"/>
              </a:spcAft>
              <a:defRPr sz="2300">
                <a:solidFill>
                  <a:srgbClr val="F5F6FF"/>
                </a:solidFill>
                <a:latin typeface="Inter"/>
              </a:defRPr>
            </a:pPr>
            <a:r>
              <a:t>Ready for Product Hunt, investor demos, and pilot onboarding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4B6D6"/>
                </a:solidFill>
              </a:defRPr>
            </a:pPr>
            <a:r>
              <a:t>Contact: NodeNexus Team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